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ospital.jpg"/>
          <p:cNvPicPr>
            <a:picLocks noChangeAspect="1"/>
          </p:cNvPicPr>
          <p:nvPr/>
        </p:nvPicPr>
        <p:blipFill>
          <a:blip r:embed="rId2"/>
          <a:srcRect t="7811" b="781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>
              <a:alpha val="5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73E6B"/>
                </a:solidFill>
                <a:latin typeface="Calibri"/>
              </a:rPr>
              <a:t>BUSINESS REQUIREMENTS DOCUMENT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06040"/>
            <a:ext cx="10241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Calibri"/>
              </a:rPr>
              <a:t>BRD Hospital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204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FFFFFF"/>
                </a:solidFill>
                <a:latin typeface="Calibri"/>
              </a:rPr>
              <a:t>Gynaecology, Pregnancy &amp; Maternity Care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069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6D9DF"/>
                </a:solidFill>
                <a:latin typeface="Calibri"/>
              </a:rPr>
              <a:t>Marketing Website  ·  Online Appointment Booking  ·  Admin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C9CEDA"/>
                </a:solidFill>
                <a:latin typeface="Calibri"/>
              </a:rPr>
              <a:t>Prepared by Craftlanee  |  Version 1.0  |  10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73E6B"/>
                </a:solidFill>
                <a:latin typeface="Calibri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4A"/>
                </a:solidFill>
                <a:latin typeface="Calibri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005840" cy="38100"/>
          </a:xfrm>
          <a:prstGeom prst="rect">
            <a:avLst/>
          </a:prstGeom>
          <a:solidFill>
            <a:srgbClr val="C7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C73E6B"/>
                </a:solidFill>
              </a:rPr>
              <a:t>●  </a:t>
            </a:r>
            <a:r>
              <a:rPr sz="1700">
                <a:solidFill>
                  <a:srgbClr val="303030"/>
                </a:solidFill>
              </a:rPr>
              <a:t>Executive Summary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C73E6B"/>
                </a:solidFill>
              </a:rPr>
              <a:t>●  </a:t>
            </a:r>
            <a:r>
              <a:rPr sz="1700">
                <a:solidFill>
                  <a:srgbClr val="303030"/>
                </a:solidFill>
              </a:rPr>
              <a:t>Project Background &amp; Objectives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C73E6B"/>
                </a:solidFill>
              </a:rPr>
              <a:t>●  </a:t>
            </a:r>
            <a:r>
              <a:rPr sz="1700">
                <a:solidFill>
                  <a:srgbClr val="303030"/>
                </a:solidFill>
              </a:rPr>
              <a:t>Scope of Work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C73E6B"/>
                </a:solidFill>
              </a:rPr>
              <a:t>●  </a:t>
            </a:r>
            <a:r>
              <a:rPr sz="1700">
                <a:solidFill>
                  <a:srgbClr val="303030"/>
                </a:solidFill>
              </a:rPr>
              <a:t>Stakeholders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C73E6B"/>
                </a:solidFill>
              </a:rPr>
              <a:t>●  </a:t>
            </a:r>
            <a:r>
              <a:rPr sz="1700">
                <a:solidFill>
                  <a:srgbClr val="303030"/>
                </a:solidFill>
              </a:rPr>
              <a:t>Technology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73736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C73E6B"/>
                </a:solidFill>
              </a:rPr>
              <a:t>●  </a:t>
            </a:r>
            <a:r>
              <a:rPr sz="1700">
                <a:solidFill>
                  <a:srgbClr val="303030"/>
                </a:solidFill>
              </a:rPr>
              <a:t>System Architecture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C73E6B"/>
                </a:solidFill>
              </a:rPr>
              <a:t>●  </a:t>
            </a:r>
            <a:r>
              <a:rPr sz="1700">
                <a:solidFill>
                  <a:srgbClr val="303030"/>
                </a:solidFill>
              </a:rPr>
              <a:t>Functional Requirements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C73E6B"/>
                </a:solidFill>
              </a:rPr>
              <a:t>●  </a:t>
            </a:r>
            <a:r>
              <a:rPr sz="1700">
                <a:solidFill>
                  <a:srgbClr val="303030"/>
                </a:solidFill>
              </a:rPr>
              <a:t>Non-Functional Requirements &amp; Data Model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C73E6B"/>
                </a:solidFill>
              </a:rPr>
              <a:t>●  </a:t>
            </a:r>
            <a:r>
              <a:rPr sz="1700">
                <a:solidFill>
                  <a:srgbClr val="303030"/>
                </a:solidFill>
              </a:rPr>
              <a:t>Risks &amp; Future Enhancements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C73E6B"/>
                </a:solidFill>
              </a:rPr>
              <a:t>●  </a:t>
            </a:r>
            <a:r>
              <a:rPr sz="1700">
                <a:solidFill>
                  <a:srgbClr val="303030"/>
                </a:solidFill>
              </a:rPr>
              <a:t>Approval &amp; Sign-off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BRD Hospital — Business Requirements Document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73E6B"/>
                </a:solidFill>
                <a:latin typeface="Calibri"/>
              </a:rPr>
              <a:t>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4A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005840" cy="38100"/>
          </a:xfrm>
          <a:prstGeom prst="rect">
            <a:avLst/>
          </a:prstGeom>
          <a:solidFill>
            <a:srgbClr val="C7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6035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303030"/>
                </a:solidFill>
                <a:latin typeface="Calibri"/>
              </a:rPr>
              <a:t>BRD Hospital is the digital front door for a gynaecology and maternity practice led by Dr. Haritha Mandava.</a:t>
            </a:r>
          </a:p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303030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303030"/>
                </a:solidFill>
                <a:latin typeface="Calibri"/>
              </a:rPr>
              <a:t>The platform combines a trust-building marketing website, a guided online appointment booking flow, and a private staff dashboard to manage bookings, availability, and payments.</a:t>
            </a:r>
          </a:p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303030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303030"/>
                </a:solidFill>
                <a:latin typeface="Calibri"/>
              </a:rPr>
              <a:t>Already designed, built, and deployed as a fast, mobile-responsive application on a modern serverless stack.</a:t>
            </a:r>
          </a:p>
        </p:txBody>
      </p:sp>
      <p:pic>
        <p:nvPicPr>
          <p:cNvPr id="7" name="Picture 6" descr="hospital.jpg"/>
          <p:cNvPicPr>
            <a:picLocks noChangeAspect="1"/>
          </p:cNvPicPr>
          <p:nvPr/>
        </p:nvPicPr>
        <p:blipFill>
          <a:blip r:embed="rId2"/>
          <a:srcRect l="13043" r="13043"/>
          <a:stretch>
            <a:fillRect/>
          </a:stretch>
        </p:blipFill>
        <p:spPr>
          <a:xfrm>
            <a:off x="6949440" y="1737360"/>
            <a:ext cx="4663440" cy="4206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BRD Hospital — Business Requirements Document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73E6B"/>
                </a:solidFill>
                <a:latin typeface="Calibri"/>
              </a:rPr>
              <a:t>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4A"/>
                </a:solidFill>
                <a:latin typeface="Calibri"/>
              </a:rPr>
              <a:t>Business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005840" cy="38100"/>
          </a:xfrm>
          <a:prstGeom prst="rect">
            <a:avLst/>
          </a:prstGeom>
          <a:solidFill>
            <a:srgbClr val="C7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>
                <a:solidFill>
                  <a:srgbClr val="C73E6B"/>
                </a:solidFill>
              </a:rPr>
              <a:t>●  </a:t>
            </a:r>
            <a:r>
              <a:rPr b="1" sz="1700">
                <a:solidFill>
                  <a:srgbClr val="303030"/>
                </a:solidFill>
              </a:rPr>
              <a:t>Trust &amp; Credibility — </a:t>
            </a:r>
            <a:r>
              <a:rPr sz="1700">
                <a:solidFill>
                  <a:srgbClr val="303030"/>
                </a:solidFill>
              </a:rPr>
              <a:t>a professional online presence available 24/7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C73E6B"/>
                </a:solidFill>
              </a:rPr>
              <a:t>●  </a:t>
            </a:r>
            <a:r>
              <a:rPr b="1" sz="1700">
                <a:solidFill>
                  <a:srgbClr val="303030"/>
                </a:solidFill>
              </a:rPr>
              <a:t>Frictionless Booking — </a:t>
            </a:r>
            <a:r>
              <a:rPr sz="1700">
                <a:solidFill>
                  <a:srgbClr val="303030"/>
                </a:solidFill>
              </a:rPr>
              <a:t>patients self-book in under 2 minutes, no phone call needed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C73E6B"/>
                </a:solidFill>
              </a:rPr>
              <a:t>●  </a:t>
            </a:r>
            <a:r>
              <a:rPr b="1" sz="1700">
                <a:solidFill>
                  <a:srgbClr val="303030"/>
                </a:solidFill>
              </a:rPr>
              <a:t>Operational Clarity — </a:t>
            </a:r>
            <a:r>
              <a:rPr sz="1700">
                <a:solidFill>
                  <a:srgbClr val="303030"/>
                </a:solidFill>
              </a:rPr>
              <a:t>one dashboard as the single source of truth for staff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C73E6B"/>
                </a:solidFill>
              </a:rPr>
              <a:t>●  </a:t>
            </a:r>
            <a:r>
              <a:rPr b="1" sz="1700">
                <a:solidFill>
                  <a:srgbClr val="303030"/>
                </a:solidFill>
              </a:rPr>
              <a:t>Flexible Payments — </a:t>
            </a:r>
            <a:r>
              <a:rPr sz="1700">
                <a:solidFill>
                  <a:srgbClr val="303030"/>
                </a:solidFill>
              </a:rPr>
              <a:t>low-friction UPI + WhatsApp confirmation flow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C73E6B"/>
                </a:solidFill>
              </a:rPr>
              <a:t>●  </a:t>
            </a:r>
            <a:r>
              <a:rPr b="1" sz="1700">
                <a:solidFill>
                  <a:srgbClr val="303030"/>
                </a:solidFill>
              </a:rPr>
              <a:t>Inclusive Access — </a:t>
            </a:r>
            <a:r>
              <a:rPr sz="1700">
                <a:solidFill>
                  <a:srgbClr val="303030"/>
                </a:solidFill>
              </a:rPr>
              <a:t>site available in 5 languages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C73E6B"/>
                </a:solidFill>
              </a:rPr>
              <a:t>●  </a:t>
            </a:r>
            <a:r>
              <a:rPr b="1" sz="1700">
                <a:solidFill>
                  <a:srgbClr val="303030"/>
                </a:solidFill>
              </a:rPr>
              <a:t>Performance — </a:t>
            </a:r>
            <a:r>
              <a:rPr sz="1700">
                <a:solidFill>
                  <a:srgbClr val="303030"/>
                </a:solidFill>
              </a:rPr>
              <a:t>fast, reliable experience on every device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BRD Hospital — Business Requirements Document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73E6B"/>
                </a:solidFill>
                <a:latin typeface="Calibri"/>
              </a:rPr>
              <a:t>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4A"/>
                </a:solidFill>
                <a:latin typeface="Calibri"/>
              </a:rPr>
              <a:t>Scope of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005840" cy="38100"/>
          </a:xfrm>
          <a:prstGeom prst="rect">
            <a:avLst/>
          </a:prstGeom>
          <a:solidFill>
            <a:srgbClr val="C7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C73E6B"/>
                </a:solidFill>
                <a:latin typeface="Calibri"/>
              </a:rPr>
              <a:t>In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5394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C73E6B"/>
                </a:solidFill>
              </a:rPr>
              <a:t>●  </a:t>
            </a:r>
            <a:r>
              <a:rPr sz="1500">
                <a:solidFill>
                  <a:srgbClr val="303030"/>
                </a:solidFill>
              </a:rPr>
              <a:t>Public marketing website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C73E6B"/>
                </a:solidFill>
              </a:rPr>
              <a:t>●  </a:t>
            </a:r>
            <a:r>
              <a:rPr sz="1500">
                <a:solidFill>
                  <a:srgbClr val="303030"/>
                </a:solidFill>
              </a:rPr>
              <a:t>Multi-step online appointment booking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C73E6B"/>
                </a:solidFill>
              </a:rPr>
              <a:t>●  </a:t>
            </a:r>
            <a:r>
              <a:rPr sz="1500">
                <a:solidFill>
                  <a:srgbClr val="303030"/>
                </a:solidFill>
              </a:rPr>
              <a:t>Authenticated admin dashboard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C73E6B"/>
                </a:solidFill>
              </a:rPr>
              <a:t>●  </a:t>
            </a:r>
            <a:r>
              <a:rPr sz="1500">
                <a:solidFill>
                  <a:srgbClr val="303030"/>
                </a:solidFill>
              </a:rPr>
              <a:t>Manual UPI + WhatsApp payment flow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C73E6B"/>
                </a:solidFill>
              </a:rPr>
              <a:t>●  </a:t>
            </a:r>
            <a:r>
              <a:rPr sz="1500">
                <a:solidFill>
                  <a:srgbClr val="303030"/>
                </a:solidFill>
              </a:rPr>
              <a:t>Automated email notifications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C73E6B"/>
                </a:solidFill>
              </a:rPr>
              <a:t>●  </a:t>
            </a:r>
            <a:r>
              <a:rPr sz="1500">
                <a:solidFill>
                  <a:srgbClr val="303030"/>
                </a:solidFill>
              </a:rPr>
              <a:t>5-language multilingual 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916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555555"/>
                </a:solidFill>
                <a:latin typeface="Calibri"/>
              </a:rPr>
              <a:t>Out of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148840"/>
            <a:ext cx="5394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555555"/>
                </a:solidFill>
              </a:rPr>
              <a:t>●  </a:t>
            </a:r>
            <a:r>
              <a:rPr sz="1500">
                <a:solidFill>
                  <a:srgbClr val="303030"/>
                </a:solidFill>
              </a:rPr>
              <a:t>Online payment gateway integration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555555"/>
                </a:solidFill>
              </a:rPr>
              <a:t>●  </a:t>
            </a:r>
            <a:r>
              <a:rPr sz="1500">
                <a:solidFill>
                  <a:srgbClr val="303030"/>
                </a:solidFill>
              </a:rPr>
              <a:t>Multi-doctor / multi-branch scheduling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555555"/>
                </a:solidFill>
              </a:rPr>
              <a:t>●  </a:t>
            </a:r>
            <a:r>
              <a:rPr sz="1500">
                <a:solidFill>
                  <a:srgbClr val="303030"/>
                </a:solidFill>
              </a:rPr>
              <a:t>Native iOS / Android apps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555555"/>
                </a:solidFill>
              </a:rPr>
              <a:t>●  </a:t>
            </a:r>
            <a:r>
              <a:rPr sz="1500">
                <a:solidFill>
                  <a:srgbClr val="303030"/>
                </a:solidFill>
              </a:rPr>
              <a:t>Electronic Health Records (EHR)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555555"/>
                </a:solidFill>
              </a:rPr>
              <a:t>●  </a:t>
            </a:r>
            <a:r>
              <a:rPr sz="1500">
                <a:solidFill>
                  <a:srgbClr val="303030"/>
                </a:solidFill>
              </a:rPr>
              <a:t>SMS / CRM marketing automation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BRD Hospital — Business Requirements Document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73E6B"/>
                </a:solidFill>
                <a:latin typeface="Calibri"/>
              </a:rPr>
              <a:t>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4A"/>
                </a:solidFill>
                <a:latin typeface="Calibri"/>
              </a:rPr>
              <a:t>Stakeholders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005840" cy="38100"/>
          </a:xfrm>
          <a:prstGeom prst="rect">
            <a:avLst/>
          </a:prstGeom>
          <a:solidFill>
            <a:srgbClr val="C7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octor_headsho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31520" y="1737360"/>
            <a:ext cx="2377440" cy="2377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383280" y="178308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B2A4A"/>
                </a:solidFill>
                <a:latin typeface="Calibri"/>
              </a:rPr>
              <a:t>Dr. Haritha Mandava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24028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55555"/>
                </a:solidFill>
                <a:latin typeface="Calibri"/>
              </a:rPr>
              <a:t>Obstetrician, Gynaecologist &amp; Sonologist — 14 years' experience, MBBS, MS (OBG)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55555"/>
                </a:solidFill>
                <a:latin typeface="Calibri"/>
              </a:rPr>
              <a:t>Primary practitioner represented on the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48056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C73E6B"/>
                </a:solidFill>
              </a:rPr>
              <a:t>●  </a:t>
            </a:r>
            <a:r>
              <a:rPr b="1" sz="1500">
                <a:solidFill>
                  <a:srgbClr val="303030"/>
                </a:solidFill>
              </a:rPr>
              <a:t>Clinic Admin Staff — </a:t>
            </a:r>
            <a:r>
              <a:rPr sz="1500">
                <a:solidFill>
                  <a:srgbClr val="303030"/>
                </a:solidFill>
              </a:rPr>
              <a:t>daily users of the dashboard managing appointments and payments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C73E6B"/>
                </a:solidFill>
              </a:rPr>
              <a:t>●  </a:t>
            </a:r>
            <a:r>
              <a:rPr b="1" sz="1500">
                <a:solidFill>
                  <a:srgbClr val="303030"/>
                </a:solidFill>
              </a:rPr>
              <a:t>Patients / Visitors — </a:t>
            </a:r>
            <a:r>
              <a:rPr sz="1500">
                <a:solidFill>
                  <a:srgbClr val="303030"/>
                </a:solidFill>
              </a:rPr>
              <a:t>end users of the public site and booking flow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C73E6B"/>
                </a:solidFill>
              </a:rPr>
              <a:t>●  </a:t>
            </a:r>
            <a:r>
              <a:rPr b="1" sz="1500">
                <a:solidFill>
                  <a:srgbClr val="303030"/>
                </a:solidFill>
              </a:rPr>
              <a:t>Craftlanee — </a:t>
            </a:r>
            <a:r>
              <a:rPr sz="1500">
                <a:solidFill>
                  <a:srgbClr val="303030"/>
                </a:solidFill>
              </a:rPr>
              <a:t>development partner: design, build, deployment, and maintenance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BRD Hospital — Business Requirements Document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73E6B"/>
                </a:solidFill>
                <a:latin typeface="Calibri"/>
              </a:rPr>
              <a:t>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4A"/>
                </a:solidFill>
                <a:latin typeface="Calibri"/>
              </a:rPr>
              <a:t>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005840" cy="38100"/>
          </a:xfrm>
          <a:prstGeom prst="rect">
            <a:avLst/>
          </a:prstGeom>
          <a:solidFill>
            <a:srgbClr val="C7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35661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3566160" cy="50800"/>
          </a:xfrm>
          <a:prstGeom prst="rect">
            <a:avLst/>
          </a:prstGeom>
          <a:solidFill>
            <a:srgbClr val="C7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8640" y="1831640"/>
            <a:ext cx="32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2A4A"/>
                </a:solidFill>
                <a:latin typeface="Calibri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8640" y="2311640"/>
            <a:ext cx="3206160" cy="37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50">
                <a:solidFill>
                  <a:srgbClr val="333333"/>
                </a:solidFill>
              </a:rPr>
              <a:t>• React 19 + TypeScript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333333"/>
                </a:solidFill>
              </a:rPr>
              <a:t>• Vite build tool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333333"/>
                </a:solidFill>
              </a:rPr>
              <a:t>• React Router DOM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333333"/>
                </a:solidFill>
              </a:rPr>
              <a:t>• Tailwind CSS v4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333333"/>
                </a:solidFill>
              </a:rPr>
              <a:t>• Framer Motion animations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333333"/>
                </a:solidFill>
              </a:rPr>
              <a:t>• Lucide React icons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333333"/>
                </a:solidFill>
              </a:rPr>
              <a:t>• Custom i18n context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91640"/>
            <a:ext cx="35661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691640"/>
            <a:ext cx="3566160" cy="50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3400" y="1831640"/>
            <a:ext cx="32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2A4A"/>
                </a:solidFill>
                <a:latin typeface="Calibri"/>
              </a:rPr>
              <a:t>Backend &amp;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3400" y="2311640"/>
            <a:ext cx="3206160" cy="37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50">
                <a:solidFill>
                  <a:srgbClr val="333333"/>
                </a:solidFill>
              </a:rPr>
              <a:t>• Supabase (PostgreSQL)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333333"/>
                </a:solidFill>
              </a:rPr>
              <a:t>• Supabase Auth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333333"/>
                </a:solidFill>
              </a:rPr>
              <a:t>• Supabase Edge Functions (Deno)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333333"/>
                </a:solidFill>
              </a:rPr>
              <a:t>• Row-Level Security (RLS)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333333"/>
                </a:solidFill>
              </a:rPr>
              <a:t>• @supabase/supabase-js client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333333"/>
                </a:solidFill>
              </a:rPr>
              <a:t>• No custom API server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691640"/>
            <a:ext cx="35661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691640"/>
            <a:ext cx="3566160" cy="50800"/>
          </a:xfrm>
          <a:prstGeom prst="rect">
            <a:avLst/>
          </a:prstGeom>
          <a:solidFill>
            <a:srgbClr val="C7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18160" y="1831640"/>
            <a:ext cx="32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2A4A"/>
                </a:solidFill>
                <a:latin typeface="Calibri"/>
              </a:rPr>
              <a:t>Tooling &amp; Hosting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8160" y="2311640"/>
            <a:ext cx="3206160" cy="37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50">
                <a:solidFill>
                  <a:srgbClr val="333333"/>
                </a:solidFill>
              </a:rPr>
              <a:t>• qrcode (UPI QR generation)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333333"/>
                </a:solidFill>
              </a:rPr>
              <a:t>• sharp (image optimization)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333333"/>
                </a:solidFill>
              </a:rPr>
              <a:t>• Playwright (asset scripting)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333333"/>
                </a:solidFill>
              </a:rPr>
              <a:t>• oxlint + PostCSS/Autoprefixer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333333"/>
                </a:solidFill>
              </a:rPr>
              <a:t>• Netlify hosting + CI/CD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333333"/>
                </a:solidFill>
              </a:rPr>
              <a:t>• Git / GitHub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BRD Hospital — Business Requirements Document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73E6B"/>
                </a:solidFill>
                <a:latin typeface="Calibri"/>
              </a:rPr>
              <a:t>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4A"/>
                </a:solidFill>
                <a:latin typeface="Calibri"/>
              </a:rP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005840" cy="38100"/>
          </a:xfrm>
          <a:prstGeom prst="rect">
            <a:avLst/>
          </a:prstGeom>
          <a:solidFill>
            <a:srgbClr val="C7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555555"/>
                </a:solidFill>
                <a:latin typeface="Calibri"/>
              </a:rPr>
              <a:t>JAMstack architecture — static frontend on a global CDN, serverless backend, no application server to manage.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34640"/>
            <a:ext cx="2514600" cy="13716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Patient's
Browser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182112" y="3337560"/>
            <a:ext cx="365760" cy="36576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66160" y="2834640"/>
            <a:ext cx="2514600" cy="1371600"/>
          </a:xfrm>
          <a:prstGeom prst="roundRect">
            <a:avLst/>
          </a:prstGeom>
          <a:solidFill>
            <a:srgbClr val="C7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React App on
Netlify CDN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108192" y="3337560"/>
            <a:ext cx="365760" cy="36576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92240" y="2834640"/>
            <a:ext cx="2514600" cy="13716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Supabase
(Postgres + Auth)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034272" y="3337560"/>
            <a:ext cx="365760" cy="36576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418320" y="2834640"/>
            <a:ext cx="2514600" cy="1371600"/>
          </a:xfrm>
          <a:prstGeom prst="roundRect">
            <a:avLst/>
          </a:prstGeom>
          <a:solidFill>
            <a:srgbClr val="C7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Edge Functions
(Email Alerts)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663440"/>
            <a:ext cx="10789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50" b="1">
                <a:solidFill>
                  <a:srgbClr val="C73E6B"/>
                </a:solidFill>
              </a:rPr>
              <a:t>●  </a:t>
            </a:r>
            <a:r>
              <a:rPr sz="1350">
                <a:solidFill>
                  <a:srgbClr val="303030"/>
                </a:solidFill>
              </a:rPr>
              <a:t>Marketing pages render with no database call — content is bundled or served from local/Unsplash images.</a:t>
            </a:r>
          </a:p>
          <a:p>
            <a:pPr>
              <a:spcAft>
                <a:spcPts val="800"/>
              </a:spcAft>
            </a:pPr>
            <a:r>
              <a:rPr sz="1350" b="1">
                <a:solidFill>
                  <a:srgbClr val="C73E6B"/>
                </a:solidFill>
              </a:rPr>
              <a:t>●  </a:t>
            </a:r>
            <a:r>
              <a:rPr sz="1350">
                <a:solidFill>
                  <a:srgbClr val="303030"/>
                </a:solidFill>
              </a:rPr>
              <a:t>Booking checks availability and inserts a row directly via supabase-js, protected by Row-Level Security.</a:t>
            </a:r>
          </a:p>
          <a:p>
            <a:pPr>
              <a:spcAft>
                <a:spcPts val="800"/>
              </a:spcAft>
            </a:pPr>
            <a:r>
              <a:rPr sz="1350" b="1">
                <a:solidFill>
                  <a:srgbClr val="C73E6B"/>
                </a:solidFill>
              </a:rPr>
              <a:t>●  </a:t>
            </a:r>
            <a:r>
              <a:rPr sz="1350">
                <a:solidFill>
                  <a:srgbClr val="303030"/>
                </a:solidFill>
              </a:rPr>
              <a:t>A new booking triggers an instant staff email; a status/payment update triggers a patient confirmation email.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BRD Hospital — Business Requirements Document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73E6B"/>
                </a:solidFill>
                <a:latin typeface="Calibri"/>
              </a:rPr>
              <a:t>SECTION 7.1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4A"/>
                </a:solidFill>
                <a:latin typeface="Calibri"/>
              </a:rPr>
              <a:t>Public Marketing Website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005840" cy="38100"/>
          </a:xfrm>
          <a:prstGeom prst="rect">
            <a:avLst/>
          </a:prstGeom>
          <a:solidFill>
            <a:srgbClr val="C7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regnant_mother.jpg"/>
          <p:cNvPicPr>
            <a:picLocks noChangeAspect="1"/>
          </p:cNvPicPr>
          <p:nvPr/>
        </p:nvPicPr>
        <p:blipFill>
          <a:blip r:embed="rId2"/>
          <a:srcRect t="9167" b="9167"/>
          <a:stretch>
            <a:fillRect/>
          </a:stretch>
        </p:blipFill>
        <p:spPr>
          <a:xfrm>
            <a:off x="7955279" y="1691640"/>
            <a:ext cx="3657600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1737360"/>
            <a:ext cx="7132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50" b="1">
                <a:solidFill>
                  <a:srgbClr val="C73E6B"/>
                </a:solidFill>
              </a:rPr>
              <a:t>●  </a:t>
            </a:r>
            <a:r>
              <a:rPr b="1" sz="1450">
                <a:solidFill>
                  <a:srgbClr val="303030"/>
                </a:solidFill>
              </a:rPr>
              <a:t>Hero — </a:t>
            </a:r>
            <a:r>
              <a:rPr sz="1450">
                <a:solidFill>
                  <a:srgbClr val="303030"/>
                </a:solidFill>
              </a:rPr>
              <a:t>high-impact intro with a primary booking call-to-action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C73E6B"/>
                </a:solidFill>
              </a:rPr>
              <a:t>●  </a:t>
            </a:r>
            <a:r>
              <a:rPr b="1" sz="1450">
                <a:solidFill>
                  <a:srgbClr val="303030"/>
                </a:solidFill>
              </a:rPr>
              <a:t>Trust Strip — </a:t>
            </a:r>
            <a:r>
              <a:rPr sz="1450">
                <a:solidFill>
                  <a:srgbClr val="303030"/>
                </a:solidFill>
              </a:rPr>
              <a:t>credibility markers at a glance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C73E6B"/>
                </a:solidFill>
              </a:rPr>
              <a:t>●  </a:t>
            </a:r>
            <a:r>
              <a:rPr b="1" sz="1450">
                <a:solidFill>
                  <a:srgbClr val="303030"/>
                </a:solidFill>
              </a:rPr>
              <a:t>Doctor Spotlight — </a:t>
            </a:r>
            <a:r>
              <a:rPr sz="1450">
                <a:solidFill>
                  <a:srgbClr val="303030"/>
                </a:solidFill>
              </a:rPr>
              <a:t>qualifications, languages, availability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C73E6B"/>
                </a:solidFill>
              </a:rPr>
              <a:t>●  </a:t>
            </a:r>
            <a:r>
              <a:rPr b="1" sz="1450">
                <a:solidFill>
                  <a:srgbClr val="303030"/>
                </a:solidFill>
              </a:rPr>
              <a:t>Pregnancy Journey — </a:t>
            </a:r>
            <a:r>
              <a:rPr sz="1450">
                <a:solidFill>
                  <a:srgbClr val="303030"/>
                </a:solidFill>
              </a:rPr>
              <a:t>content mapped across every trimester to postnatal care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C73E6B"/>
                </a:solidFill>
              </a:rPr>
              <a:t>●  </a:t>
            </a:r>
            <a:r>
              <a:rPr b="1" sz="1450">
                <a:solidFill>
                  <a:srgbClr val="303030"/>
                </a:solidFill>
              </a:rPr>
              <a:t>Baby Emotions — </a:t>
            </a:r>
            <a:r>
              <a:rPr sz="1450">
                <a:solidFill>
                  <a:srgbClr val="303030"/>
                </a:solidFill>
              </a:rPr>
              <a:t>emotionally-led storytelling with supporting audio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C73E6B"/>
                </a:solidFill>
              </a:rPr>
              <a:t>●  </a:t>
            </a:r>
            <a:r>
              <a:rPr b="1" sz="1450">
                <a:solidFill>
                  <a:srgbClr val="303030"/>
                </a:solidFill>
              </a:rPr>
              <a:t>Mother &amp; Baby Story — </a:t>
            </a:r>
            <a:r>
              <a:rPr sz="1450">
                <a:solidFill>
                  <a:srgbClr val="303030"/>
                </a:solidFill>
              </a:rPr>
              <a:t>photography-led trust building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C73E6B"/>
                </a:solidFill>
              </a:rPr>
              <a:t>●  </a:t>
            </a:r>
            <a:r>
              <a:rPr b="1" sz="1450">
                <a:solidFill>
                  <a:srgbClr val="303030"/>
                </a:solidFill>
              </a:rPr>
              <a:t>Stats &amp; Final CTA — </a:t>
            </a:r>
            <a:r>
              <a:rPr sz="1450">
                <a:solidFill>
                  <a:srgbClr val="303030"/>
                </a:solidFill>
              </a:rPr>
              <a:t>key numbers and a closing prompt to book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C73E6B"/>
                </a:solidFill>
              </a:rPr>
              <a:t>●  </a:t>
            </a:r>
            <a:r>
              <a:rPr b="1" sz="1450">
                <a:solidFill>
                  <a:srgbClr val="303030"/>
                </a:solidFill>
              </a:rPr>
              <a:t>Language Switcher — </a:t>
            </a:r>
            <a:r>
              <a:rPr sz="1450">
                <a:solidFill>
                  <a:srgbClr val="303030"/>
                </a:solidFill>
              </a:rPr>
              <a:t>instantly re-renders the site in 5 languages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BRD Hospital — Business Requirements Document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73E6B"/>
                </a:solidFill>
                <a:latin typeface="Calibri"/>
              </a:rPr>
              <a:t>SECTION 7.2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4A"/>
                </a:solidFill>
                <a:latin typeface="Calibri"/>
              </a:rPr>
              <a:t>Online Appointment Booking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005840" cy="38100"/>
          </a:xfrm>
          <a:prstGeom prst="rect">
            <a:avLst/>
          </a:prstGeom>
          <a:solidFill>
            <a:srgbClr val="C7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260604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E3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2011680"/>
            <a:ext cx="502920" cy="502920"/>
          </a:xfrm>
          <a:prstGeom prst="ellipse">
            <a:avLst/>
          </a:prstGeom>
          <a:solidFill>
            <a:srgbClr val="C7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9748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2A4A"/>
                </a:solidFill>
                <a:latin typeface="Calibri"/>
              </a:rPr>
              <a:t>Select Service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246120"/>
            <a:ext cx="2331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55555"/>
                </a:solidFill>
                <a:latin typeface="Calibri"/>
              </a:rPr>
              <a:t>Gynecological Consultation, 30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828800"/>
            <a:ext cx="260604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E3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520440" y="2011680"/>
            <a:ext cx="502920" cy="502920"/>
          </a:xfrm>
          <a:prstGeom prst="ellipse">
            <a:avLst/>
          </a:prstGeom>
          <a:solidFill>
            <a:srgbClr val="C7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69748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2A4A"/>
                </a:solidFill>
                <a:latin typeface="Calibri"/>
              </a:rPr>
              <a:t>Pick Date &amp; 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3246120"/>
            <a:ext cx="2331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55555"/>
                </a:solidFill>
                <a:latin typeface="Calibri"/>
              </a:rPr>
              <a:t>Live calendar — booked/blocked slots auto-disabled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828800"/>
            <a:ext cx="260604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E3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55080" y="2011680"/>
            <a:ext cx="502920" cy="502920"/>
          </a:xfrm>
          <a:prstGeom prst="ellipse">
            <a:avLst/>
          </a:prstGeom>
          <a:solidFill>
            <a:srgbClr val="C7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69748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2A4A"/>
                </a:solidFill>
                <a:latin typeface="Calibri"/>
              </a:rPr>
              <a:t>Patient Details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3246120"/>
            <a:ext cx="2331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55555"/>
                </a:solidFill>
                <a:latin typeface="Calibri"/>
              </a:rPr>
              <a:t>Name, phone, email, DOB, reason, message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1828800"/>
            <a:ext cx="260604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E3D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89720" y="2011680"/>
            <a:ext cx="502920" cy="502920"/>
          </a:xfrm>
          <a:prstGeom prst="ellipse">
            <a:avLst/>
          </a:prstGeom>
          <a:solidFill>
            <a:srgbClr val="C7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269748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2A4A"/>
                </a:solidFill>
                <a:latin typeface="Calibri"/>
              </a:rPr>
              <a:t>Payment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3246120"/>
            <a:ext cx="2331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55555"/>
                </a:solidFill>
                <a:latin typeface="Calibri"/>
              </a:rPr>
              <a:t>UPI QR + WhatsApp screenshot + transaction 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555555"/>
                </a:solidFill>
                <a:latin typeface="Calibri"/>
              </a:rPr>
              <a:t>Availability is layered: a slot is unbookable if already booked, individually blocked, or on a fully-blocked day — the calendar greys out blocked days automatically.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BRD Hospital — Business Requirements Document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73E6B"/>
                </a:solidFill>
                <a:latin typeface="Calibri"/>
              </a:rPr>
              <a:t>SECTION 7.3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4A"/>
                </a:solidFill>
                <a:latin typeface="Calibri"/>
              </a:rPr>
              <a:t>Admin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005840" cy="38100"/>
          </a:xfrm>
          <a:prstGeom prst="rect">
            <a:avLst/>
          </a:prstGeom>
          <a:solidFill>
            <a:srgbClr val="C7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11064240" cy="749808"/>
          </a:xfrm>
          <a:prstGeom prst="roundRect">
            <a:avLst/>
          </a:prstGeom>
          <a:solidFill>
            <a:srgbClr val="F6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47088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C73E6B"/>
                </a:solidFill>
                <a:latin typeface="Calibri"/>
              </a:rPr>
              <a:t>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865376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333333"/>
                </a:solidFill>
                <a:latin typeface="Calibri"/>
              </a:rPr>
              <a:t>At-a-glance summary of bookings &amp; activity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06040"/>
            <a:ext cx="11064240" cy="749808"/>
          </a:xfrm>
          <a:prstGeom prst="roundRect">
            <a:avLst/>
          </a:prstGeom>
          <a:solidFill>
            <a:srgbClr val="F6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715768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C73E6B"/>
                </a:solidFill>
                <a:latin typeface="Calibri"/>
              </a:rPr>
              <a:t>Appointments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734056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333333"/>
                </a:solidFill>
                <a:latin typeface="Calibri"/>
              </a:rPr>
              <a:t>Manage status &amp; payment; search, filter, full detail view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64240" cy="749808"/>
          </a:xfrm>
          <a:prstGeom prst="roundRect">
            <a:avLst/>
          </a:prstGeom>
          <a:solidFill>
            <a:srgbClr val="F6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584448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C73E6B"/>
                </a:solidFill>
                <a:latin typeface="Calibri"/>
              </a:rPr>
              <a:t>Availability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602736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333333"/>
                </a:solidFill>
                <a:latin typeface="Calibri"/>
              </a:rPr>
              <a:t>Block a slot or an entire day on top of the fixed schedule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343400"/>
            <a:ext cx="11064240" cy="749808"/>
          </a:xfrm>
          <a:prstGeom prst="roundRect">
            <a:avLst/>
          </a:prstGeom>
          <a:solidFill>
            <a:srgbClr val="F6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453128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C73E6B"/>
                </a:solidFill>
                <a:latin typeface="Calibri"/>
              </a:rPr>
              <a:t>Payments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4471416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333333"/>
                </a:solidFill>
                <a:latin typeface="Calibri"/>
              </a:rPr>
              <a:t>Track manual payment verification; CSV export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212080"/>
            <a:ext cx="11064240" cy="749808"/>
          </a:xfrm>
          <a:prstGeom prst="roundRect">
            <a:avLst/>
          </a:prstGeom>
          <a:solidFill>
            <a:srgbClr val="F6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321808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C73E6B"/>
                </a:solidFill>
                <a:latin typeface="Calibri"/>
              </a:rPr>
              <a:t>Settings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5340096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333333"/>
                </a:solidFill>
                <a:latin typeface="Calibri"/>
              </a:rPr>
              <a:t>Booking fee, UPI ID, WhatsApp number, reason checklist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BRD Hospital — Business Requirements Document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73E6B"/>
                </a:solidFill>
                <a:latin typeface="Calibri"/>
              </a:rPr>
              <a:t>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4A"/>
                </a:solidFill>
                <a:latin typeface="Calibri"/>
              </a:rPr>
              <a:t>Non-Functional Requirements &amp; Data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005840" cy="38100"/>
          </a:xfrm>
          <a:prstGeom prst="rect">
            <a:avLst/>
          </a:prstGeom>
          <a:solidFill>
            <a:srgbClr val="C7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B2A4A"/>
                </a:solidFill>
                <a:latin typeface="Calibri"/>
              </a:rPr>
              <a:t>Key Qualities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C73E6B"/>
                </a:solidFill>
              </a:rPr>
              <a:t>●  </a:t>
            </a:r>
            <a:r>
              <a:rPr sz="1400">
                <a:solidFill>
                  <a:srgbClr val="303030"/>
                </a:solidFill>
              </a:rPr>
              <a:t>Fast — optimized images, CDN delivery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C73E6B"/>
                </a:solidFill>
              </a:rPr>
              <a:t>●  </a:t>
            </a:r>
            <a:r>
              <a:rPr sz="1400">
                <a:solidFill>
                  <a:srgbClr val="303030"/>
                </a:solidFill>
              </a:rPr>
              <a:t>Responsive — mobile, tablet, desktop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C73E6B"/>
                </a:solidFill>
              </a:rPr>
              <a:t>●  </a:t>
            </a:r>
            <a:r>
              <a:rPr sz="1400">
                <a:solidFill>
                  <a:srgbClr val="303030"/>
                </a:solidFill>
              </a:rPr>
              <a:t>Secure — Row-Level Security, gated admin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C73E6B"/>
                </a:solidFill>
              </a:rPr>
              <a:t>●  </a:t>
            </a:r>
            <a:r>
              <a:rPr sz="1400">
                <a:solidFill>
                  <a:srgbClr val="303030"/>
                </a:solidFill>
              </a:rPr>
              <a:t>Resilient — site works even if backend is down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C73E6B"/>
                </a:solidFill>
              </a:rPr>
              <a:t>●  </a:t>
            </a:r>
            <a:r>
              <a:rPr sz="1400">
                <a:solidFill>
                  <a:srgbClr val="303030"/>
                </a:solidFill>
              </a:rPr>
              <a:t>Scalable — serverless 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9164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B2A4A"/>
                </a:solidFill>
                <a:latin typeface="Calibri"/>
              </a:rPr>
              <a:t>Core Database Tables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C73E6B"/>
                </a:solidFill>
              </a:rPr>
              <a:t>●  </a:t>
            </a:r>
            <a:r>
              <a:rPr sz="1400">
                <a:solidFill>
                  <a:srgbClr val="303030"/>
                </a:solidFill>
              </a:rPr>
              <a:t>doctors — registered practitioners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C73E6B"/>
                </a:solidFill>
              </a:rPr>
              <a:t>●  </a:t>
            </a:r>
            <a:r>
              <a:rPr sz="1400">
                <a:solidFill>
                  <a:srgbClr val="303030"/>
                </a:solidFill>
              </a:rPr>
              <a:t>services — bookable consultation types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C73E6B"/>
                </a:solidFill>
              </a:rPr>
              <a:t>●  </a:t>
            </a:r>
            <a:r>
              <a:rPr sz="1400">
                <a:solidFill>
                  <a:srgbClr val="303030"/>
                </a:solidFill>
              </a:rPr>
              <a:t>appointments — every patient booking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C73E6B"/>
                </a:solidFill>
              </a:rPr>
              <a:t>●  </a:t>
            </a:r>
            <a:r>
              <a:rPr sz="1400">
                <a:solidFill>
                  <a:srgbClr val="303030"/>
                </a:solidFill>
              </a:rPr>
              <a:t>reason_options — visit-reason checklist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C73E6B"/>
                </a:solidFill>
              </a:rPr>
              <a:t>●  </a:t>
            </a:r>
            <a:r>
              <a:rPr sz="1400">
                <a:solidFill>
                  <a:srgbClr val="303030"/>
                </a:solidFill>
              </a:rPr>
              <a:t>app_settings — fee, UPI ID, WhatsApp number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C73E6B"/>
                </a:solidFill>
              </a:rPr>
              <a:t>●  </a:t>
            </a:r>
            <a:r>
              <a:rPr sz="1400">
                <a:solidFill>
                  <a:srgbClr val="303030"/>
                </a:solidFill>
              </a:rPr>
              <a:t>blocked_slots — availability overrides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BRD Hospital — Business Requirements Document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73E6B"/>
                </a:solidFill>
                <a:latin typeface="Calibri"/>
              </a:rPr>
              <a:t>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4A"/>
                </a:solidFill>
                <a:latin typeface="Calibri"/>
              </a:rPr>
              <a:t>Risks &amp; Future Enhancements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005840" cy="38100"/>
          </a:xfrm>
          <a:prstGeom prst="rect">
            <a:avLst/>
          </a:prstGeom>
          <a:solidFill>
            <a:srgbClr val="C7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C73E6B"/>
                </a:solidFill>
                <a:latin typeface="Calibri"/>
              </a:rPr>
              <a:t>Key Risks &amp; Mitigations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50" b="1">
                <a:solidFill>
                  <a:srgbClr val="C73E6B"/>
                </a:solidFill>
              </a:rPr>
              <a:t>●  </a:t>
            </a:r>
            <a:r>
              <a:rPr sz="1350">
                <a:solidFill>
                  <a:srgbClr val="303030"/>
                </a:solidFill>
              </a:rPr>
              <a:t>Missed manual payment check → transaction ID surfaced directly in the dashboard</a:t>
            </a:r>
          </a:p>
          <a:p>
            <a:pPr>
              <a:spcAft>
                <a:spcPts val="800"/>
              </a:spcAft>
            </a:pPr>
            <a:r>
              <a:rPr sz="1350" b="1">
                <a:solidFill>
                  <a:srgbClr val="C73E6B"/>
                </a:solidFill>
              </a:rPr>
              <a:t>●  </a:t>
            </a:r>
            <a:r>
              <a:rPr sz="1350">
                <a:solidFill>
                  <a:srgbClr val="303030"/>
                </a:solidFill>
              </a:rPr>
              <a:t>Backend outage → marketing site still renders fully</a:t>
            </a:r>
          </a:p>
          <a:p>
            <a:pPr>
              <a:spcAft>
                <a:spcPts val="800"/>
              </a:spcAft>
            </a:pPr>
            <a:r>
              <a:rPr sz="1350" b="1">
                <a:solidFill>
                  <a:srgbClr val="C73E6B"/>
                </a:solidFill>
              </a:rPr>
              <a:t>●  </a:t>
            </a:r>
            <a:r>
              <a:rPr sz="1350">
                <a:solidFill>
                  <a:srgbClr val="303030"/>
                </a:solidFill>
              </a:rPr>
              <a:t>Double-booking → booked/blocked slots checked before offering a time</a:t>
            </a:r>
          </a:p>
          <a:p>
            <a:pPr>
              <a:spcAft>
                <a:spcPts val="800"/>
              </a:spcAft>
            </a:pPr>
            <a:r>
              <a:rPr sz="1350" b="1">
                <a:solidFill>
                  <a:srgbClr val="C73E6B"/>
                </a:solidFill>
              </a:rPr>
              <a:t>●  </a:t>
            </a:r>
            <a:r>
              <a:rPr sz="1350">
                <a:solidFill>
                  <a:srgbClr val="303030"/>
                </a:solidFill>
              </a:rPr>
              <a:t>Admin compromise → no public self-signup, accounts provisioned manually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9164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B2A4A"/>
                </a:solidFill>
                <a:latin typeface="Calibri"/>
              </a:rPr>
              <a:t>Future Enhancements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50" b="1">
                <a:solidFill>
                  <a:srgbClr val="1B2A4A"/>
                </a:solidFill>
              </a:rPr>
              <a:t>●  </a:t>
            </a:r>
            <a:r>
              <a:rPr sz="1350">
                <a:solidFill>
                  <a:srgbClr val="303030"/>
                </a:solidFill>
              </a:rPr>
              <a:t>Integrated online payment gateway</a:t>
            </a:r>
          </a:p>
          <a:p>
            <a:pPr>
              <a:spcAft>
                <a:spcPts val="800"/>
              </a:spcAft>
            </a:pPr>
            <a:r>
              <a:rPr sz="1350" b="1">
                <a:solidFill>
                  <a:srgbClr val="1B2A4A"/>
                </a:solidFill>
              </a:rPr>
              <a:t>●  </a:t>
            </a:r>
            <a:r>
              <a:rPr sz="1350">
                <a:solidFill>
                  <a:srgbClr val="303030"/>
                </a:solidFill>
              </a:rPr>
              <a:t>Multi-doctor / multi-branch scheduling</a:t>
            </a:r>
          </a:p>
          <a:p>
            <a:pPr>
              <a:spcAft>
                <a:spcPts val="800"/>
              </a:spcAft>
            </a:pPr>
            <a:r>
              <a:rPr sz="1350" b="1">
                <a:solidFill>
                  <a:srgbClr val="1B2A4A"/>
                </a:solidFill>
              </a:rPr>
              <a:t>●  </a:t>
            </a:r>
            <a:r>
              <a:rPr sz="1350">
                <a:solidFill>
                  <a:srgbClr val="303030"/>
                </a:solidFill>
              </a:rPr>
              <a:t>Automated SMS/WhatsApp reminders</a:t>
            </a:r>
          </a:p>
          <a:p>
            <a:pPr>
              <a:spcAft>
                <a:spcPts val="800"/>
              </a:spcAft>
            </a:pPr>
            <a:r>
              <a:rPr sz="1350" b="1">
                <a:solidFill>
                  <a:srgbClr val="1B2A4A"/>
                </a:solidFill>
              </a:rPr>
              <a:t>●  </a:t>
            </a:r>
            <a:r>
              <a:rPr sz="1350">
                <a:solidFill>
                  <a:srgbClr val="303030"/>
                </a:solidFill>
              </a:rPr>
              <a:t>Patient self-reschedule &amp; cancellation</a:t>
            </a:r>
          </a:p>
          <a:p>
            <a:pPr>
              <a:spcAft>
                <a:spcPts val="800"/>
              </a:spcAft>
            </a:pPr>
            <a:r>
              <a:rPr sz="1350" b="1">
                <a:solidFill>
                  <a:srgbClr val="1B2A4A"/>
                </a:solidFill>
              </a:rPr>
              <a:t>●  </a:t>
            </a:r>
            <a:r>
              <a:rPr sz="1350">
                <a:solidFill>
                  <a:srgbClr val="303030"/>
                </a:solidFill>
              </a:rPr>
              <a:t>Automated test coverage (Playwright)</a:t>
            </a:r>
          </a:p>
          <a:p>
            <a:pPr>
              <a:spcAft>
                <a:spcPts val="800"/>
              </a:spcAft>
            </a:pPr>
            <a:r>
              <a:rPr sz="1350" b="1">
                <a:solidFill>
                  <a:srgbClr val="1B2A4A"/>
                </a:solidFill>
              </a:rPr>
              <a:t>●  </a:t>
            </a:r>
            <a:r>
              <a:rPr sz="1350">
                <a:solidFill>
                  <a:srgbClr val="303030"/>
                </a:solidFill>
              </a:rPr>
              <a:t>Booking analytics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BRD Hospital — Business Requirements Document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aby_giggling.jpg"/>
          <p:cNvPicPr>
            <a:picLocks noChangeAspect="1"/>
          </p:cNvPicPr>
          <p:nvPr/>
        </p:nvPicPr>
        <p:blipFill>
          <a:blip r:embed="rId2"/>
          <a:srcRect t="9483" b="948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>
              <a:alpha val="6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20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D9DF"/>
                </a:solidFill>
                <a:latin typeface="Calibri"/>
              </a:rPr>
              <a:t>BRD Hospital — Business Requirements Document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C9CEDA"/>
                </a:solidFill>
                <a:latin typeface="Calibri"/>
              </a:rPr>
              <a:t>Prepared by Craftlanee  |  Version 1.0  |  10 September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